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Concentração de receita — corte Top 10% captura 46,96%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da receita prevista capturada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Top 5%</c:v>
                </c:pt>
                <c:pt idx="1">
                  <c:v>Top 10%</c:v>
                </c:pt>
                <c:pt idx="2">
                  <c:v>Top 15%</c:v>
                </c:pt>
                <c:pt idx="3">
                  <c:v>Top 20%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0.3049</c:v>
                </c:pt>
                <c:pt idx="1">
                  <c:v>0.4696</c:v>
                </c:pt>
                <c:pt idx="2">
                  <c:v>0.5739</c:v>
                </c:pt>
                <c:pt idx="3">
                  <c:v>0.6488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ΔReceita líquida por cenário — blanket é deficitário (IC95 ±R$2k)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ΔReceita líquida (R$ mil)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Conservador</c:v>
                </c:pt>
                <c:pt idx="1">
                  <c:v>Base</c:v>
                </c:pt>
                <c:pt idx="2">
                  <c:v>Otimista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-163.4</c:v>
                </c:pt>
                <c:pt idx="1">
                  <c:v>-153.7</c:v>
                </c:pt>
                <c:pt idx="2">
                  <c:v>-132.9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77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E83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Projeto Aura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08BC4"/>
                </a:solidFill>
                <a:latin typeface="Calibri"/>
              </a:rPr>
              <a:t>Da milha ao momento de cuidado</a:t>
            </a:r>
          </a:p>
          <a:p>
            <a:pPr algn="l"/>
            <a:r>
              <a:rPr sz="1600" b="0">
                <a:solidFill>
                  <a:srgbClr val="9AE0E8"/>
                </a:solidFill>
                <a:latin typeface="Calibri"/>
              </a:rPr>
              <a:t>Inteligência de clientes e retenção — Azul Fidelidade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77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E0E8"/>
                </a:solidFill>
                <a:latin typeface="Calibri"/>
              </a:rPr>
              <a:t>Pitch executivo de 5 minutos · Pipeline 100% reproduzível por código · Base sintética calibrada com fontes públicas ANAC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57681"/>
                </a:solidFill>
                <a:latin typeface="Calibri"/>
              </a:rPr>
              <a:t>Dados sintéticos — nenhum dado pessoal real. Métricas validam o pipeline; não são prova de desempenho no mundo real.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33774"/>
                </a:solidFill>
                <a:latin typeface="Calibri"/>
              </a:rPr>
              <a:t>1 · O paradoxo da lealdade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A30"/>
                </a:solidFill>
                <a:latin typeface="Calibri"/>
              </a:rPr>
              <a:t>20,1 milhões de membros no Azul Fidelidade (RI, dez/2025).</a:t>
            </a:r>
          </a:p>
          <a:p>
            <a:pPr algn="l"/>
            <a:r>
              <a:rPr sz="1800" b="0">
                <a:solidFill>
                  <a:srgbClr val="1E2A30"/>
                </a:solidFill>
                <a:latin typeface="Calibri"/>
              </a:rPr>
              <a:t>Mas a carteira real de fidelidade é concentrada e dormente:</a:t>
            </a:r>
          </a:p>
          <a:p>
            <a:pPr algn="l"/>
            <a:r>
              <a:rPr sz="1500" b="0">
                <a:solidFill>
                  <a:srgbClr val="1E2A30"/>
                </a:solidFill>
                <a:latin typeface="Calibri"/>
              </a:rPr>
              <a:t>• 48% dos clientes são promocionais ocasionais (churn previsto 74%)</a:t>
            </a:r>
          </a:p>
          <a:p>
            <a:pPr algn="l"/>
            <a:r>
              <a:rPr sz="1500" b="0">
                <a:solidFill>
                  <a:srgbClr val="1E2A30"/>
                </a:solidFill>
                <a:latin typeface="Calibri"/>
              </a:rPr>
              <a:t>• 10% dos clientes carregam 47% da receita prevista de 12 meses</a:t>
            </a:r>
          </a:p>
          <a:p>
            <a:pPr algn="l"/>
            <a:r>
              <a:rPr sz="1500" b="0">
                <a:solidFill>
                  <a:srgbClr val="1E2A30"/>
                </a:solidFill>
                <a:latin typeface="Calibri"/>
              </a:rPr>
              <a:t>• R$ 8,31 milhões em valor em risco na carteira simulada (CLV × P(churn))</a:t>
            </a:r>
          </a:p>
          <a:p>
            <a:pPr algn="l"/>
            <a:r>
              <a:rPr sz="1500" b="0">
                <a:solidFill>
                  <a:srgbClr val="657681"/>
                </a:solidFill>
                <a:latin typeface="Calibri"/>
              </a:rPr>
              <a:t>Manter quem importa custa uma fração de conquistar quem não existe:</a:t>
            </a:r>
          </a:p>
          <a:p>
            <a:pPr algn="l"/>
            <a:r>
              <a:rPr sz="1500" b="0">
                <a:solidFill>
                  <a:srgbClr val="657681"/>
                </a:solidFill>
                <a:latin typeface="Calibri"/>
              </a:rPr>
              <a:t>o problema não é falta de dados — é não saber QUEM priorizar, COM QUER cuidar e QUANDO agir.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4630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874B5"/>
                </a:solidFill>
                <a:latin typeface="Calibri"/>
              </a:rPr>
              <a:t>20,1M</a:t>
            </a:r>
          </a:p>
          <a:p>
            <a:pPr algn="l"/>
            <a:r>
              <a:rPr sz="1100" b="0">
                <a:solidFill>
                  <a:srgbClr val="657681"/>
                </a:solidFill>
                <a:latin typeface="Calibri"/>
              </a:rPr>
              <a:t>membros (fato RI dez/2025)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4630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874B5"/>
                </a:solidFill>
                <a:latin typeface="Calibri"/>
              </a:rPr>
              <a:t>50.000</a:t>
            </a:r>
          </a:p>
          <a:p>
            <a:pPr algn="l"/>
            <a:r>
              <a:rPr sz="1100" b="0">
                <a:solidFill>
                  <a:srgbClr val="657681"/>
                </a:solidFill>
                <a:latin typeface="Calibri"/>
              </a:rPr>
              <a:t>clientes na base sintética calibrada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30175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32A5"/>
                </a:solidFill>
                <a:latin typeface="Calibri"/>
              </a:rPr>
              <a:t>48,4%</a:t>
            </a:r>
          </a:p>
          <a:p>
            <a:pPr algn="l"/>
            <a:r>
              <a:rPr sz="1100" b="0">
                <a:solidFill>
                  <a:srgbClr val="657681"/>
                </a:solidFill>
                <a:latin typeface="Calibri"/>
              </a:rPr>
              <a:t>persona eventual promocional (churn 73,6%)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30175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874B5"/>
                </a:solidFill>
                <a:latin typeface="Calibri"/>
              </a:rPr>
              <a:t>R$ 8,31M</a:t>
            </a:r>
          </a:p>
          <a:p>
            <a:pPr algn="l"/>
            <a:r>
              <a:rPr sz="1100" b="0">
                <a:solidFill>
                  <a:srgbClr val="657681"/>
                </a:solidFill>
                <a:latin typeface="Calibri"/>
              </a:rPr>
              <a:t>valor em risco simulado (Σ CLV × churn)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57681"/>
                </a:solidFill>
                <a:latin typeface="Calibri"/>
              </a:rPr>
              <a:t>Números da base sintética v3 (validação de pipeline); escala de membros verificada por pesquisa no RI da Azul.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33774"/>
                </a:solidFill>
                <a:latin typeface="Calibri"/>
              </a:rPr>
              <a:t>2 · Valor é CLV previsto — não gasto passado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A30"/>
                </a:solidFill>
                <a:latin typeface="Calibri"/>
              </a:rPr>
              <a:t>Pipeline (tudo auditável):</a:t>
            </a:r>
          </a:p>
          <a:p>
            <a:pPr algn="l"/>
            <a:r>
              <a:rPr sz="1300" b="0">
                <a:solidFill>
                  <a:srgbClr val="1E2A30"/>
                </a:solidFill>
                <a:latin typeface="Calibri"/>
              </a:rPr>
              <a:t>• Fontes públicas ANAC (3,2 GB) → calibração com manifesto sha256</a:t>
            </a:r>
          </a:p>
          <a:p>
            <a:pPr algn="l"/>
            <a:r>
              <a:rPr sz="1300" b="0">
                <a:solidFill>
                  <a:srgbClr val="1E2A30"/>
                </a:solidFill>
                <a:latin typeface="Calibri"/>
              </a:rPr>
              <a:t>• Base sintética determinística: ground truth segregado, zero PII</a:t>
            </a:r>
          </a:p>
          <a:p>
            <a:pPr algn="l"/>
            <a:r>
              <a:rPr sz="1300" b="0">
                <a:solidFill>
                  <a:srgbClr val="1E2A30"/>
                </a:solidFill>
                <a:latin typeface="Calibri"/>
              </a:rPr>
              <a:t>• Features anti-vazamento temporal (cutoff 2025-08-31, testes)</a:t>
            </a:r>
          </a:p>
          <a:p>
            <a:pPr algn="l"/>
            <a:r>
              <a:rPr sz="1300" b="0">
                <a:solidFill>
                  <a:srgbClr val="1E2A30"/>
                </a:solidFill>
                <a:latin typeface="Calibri"/>
              </a:rPr>
              <a:t>• CLV: LightGBM WAPE 0,655 vs 0,797 do baseline BG/NBD+GG (Δ −0,142, IC 95%)</a:t>
            </a:r>
          </a:p>
          <a:p>
            <a:pPr algn="l"/>
            <a:r>
              <a:rPr sz="1300" b="0">
                <a:solidFill>
                  <a:srgbClr val="1E2A30"/>
                </a:solidFill>
                <a:latin typeface="Calibri"/>
              </a:rPr>
              <a:t>• Churn: ROC-AUC 0,857 · PR-AUC 0,852 · Brier 0,145</a:t>
            </a:r>
          </a:p>
          <a:p>
            <a:pPr algn="l"/>
            <a:r>
              <a:rPr sz="1300" b="0">
                <a:solidFill>
                  <a:srgbClr val="1E2A30"/>
                </a:solidFill>
                <a:latin typeface="Calibri"/>
              </a:rPr>
              <a:t>• ScoreAV (0,6 CLV · 0,2 RFM · 0,2 potencial): Spearman &gt; 0,998 sob ±10% nos pesos</a:t>
            </a:r>
          </a:p>
          <a:p>
            <a:pPr algn="l"/>
            <a:r>
              <a:rPr sz="1300" b="0">
                <a:solidFill>
                  <a:srgbClr val="1E2A30"/>
                </a:solidFill>
                <a:latin typeface="Calibri"/>
              </a:rPr>
              <a:t>• Explicação SHAP por cliente — toda decisão tem 'por quê'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35040" y="1371600"/>
          <a:ext cx="55778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57681"/>
                </a:solidFill>
                <a:latin typeface="Calibri"/>
              </a:rPr>
              <a:t>Corte alto-valor: 5.005 clientes (10,01% da carteira) capturando 46,96% da receita. Validade: métricas computadas na base sintética com validação temporal.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33774"/>
                </a:solidFill>
                <a:latin typeface="Calibri"/>
              </a:rPr>
              <a:t>3 · Do risco à mensagem em 30 ms (demo ao vivo)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2A30"/>
                </a:solidFill>
                <a:latin typeface="Calibri"/>
              </a:rPr>
              <a:t>Cliente real da base: C038454</a:t>
            </a:r>
          </a:p>
          <a:p>
            <a:pPr algn="l"/>
            <a:r>
              <a:rPr sz="1400" b="0">
                <a:solidFill>
                  <a:srgbClr val="1E2A30"/>
                </a:solidFill>
                <a:latin typeface="Calibri"/>
              </a:rPr>
              <a:t>• Topázio · persona Eventual Ascendente</a:t>
            </a:r>
          </a:p>
          <a:p>
            <a:pPr algn="l"/>
            <a:r>
              <a:rPr sz="1400" b="0">
                <a:solidFill>
                  <a:srgbClr val="1E2A30"/>
                </a:solidFill>
                <a:latin typeface="Calibri"/>
              </a:rPr>
              <a:t>• CLV previsto R$ 4.975 · churn 62,5% · VaR R$ 3.109</a:t>
            </a:r>
          </a:p>
          <a:p>
            <a:pPr algn="l"/>
            <a:r>
              <a:rPr sz="1400" b="0">
                <a:solidFill>
                  <a:srgbClr val="1E2A30"/>
                </a:solidFill>
                <a:latin typeface="Calibri"/>
              </a:rPr>
              <a:t>• SHAP: nível Topázio (+R$ 3.333) · ticket médio (+R$ 512) · pontos 12M (+R$ 346)</a:t>
            </a:r>
          </a:p>
          <a:p>
            <a:pPr algn="l"/>
            <a:r>
              <a:rPr sz="1700" b="1">
                <a:solidFill>
                  <a:srgbClr val="1E2A30"/>
                </a:solidFill>
                <a:latin typeface="Calibri"/>
              </a:rPr>
              <a:t>O agente compõe (offline, determinístico):</a:t>
            </a:r>
          </a:p>
          <a:p>
            <a:pPr algn="l"/>
            <a:r>
              <a:rPr sz="1400" b="0">
                <a:solidFill>
                  <a:srgbClr val="1E2A30"/>
                </a:solidFill>
                <a:latin typeface="Calibri"/>
              </a:rPr>
              <a:t>• Ação: antecipação de nível com citação do regulamento (AF-TIER-TOPAZIO, snapshot 2026-10-12, status verificado)</a:t>
            </a:r>
          </a:p>
          <a:p>
            <a:pPr algn="l"/>
            <a:r>
              <a:rPr sz="1400" b="0">
                <a:solidFill>
                  <a:srgbClr val="1E2A30"/>
                </a:solidFill>
                <a:latin typeface="Calibri"/>
              </a:rPr>
              <a:t>• Canal, tom e benefício vêm do inventário elegível — nada é inventado</a:t>
            </a:r>
          </a:p>
          <a:p>
            <a:pPr algn="l"/>
            <a:r>
              <a:rPr sz="1400" b="0">
                <a:solidFill>
                  <a:srgbClr val="1E2A30"/>
                </a:solidFill>
                <a:latin typeface="Calibri"/>
              </a:rPr>
              <a:t>• Latência média 33 ms/cliente · custo R$ 0 (offline)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32A5"/>
                </a:solidFill>
                <a:latin typeface="Calibri"/>
              </a:rPr>
              <a:t>62/62</a:t>
            </a:r>
          </a:p>
          <a:p>
            <a:pPr algn="l"/>
            <a:r>
              <a:rPr sz="1100" b="0">
                <a:solidFill>
                  <a:srgbClr val="657681"/>
                </a:solidFill>
                <a:latin typeface="Calibri"/>
              </a:rPr>
              <a:t>vetores adversariais bloqueados (4 rodadas)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4630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874B5"/>
                </a:solidFill>
                <a:latin typeface="Calibri"/>
              </a:rPr>
              <a:t>100%</a:t>
            </a:r>
          </a:p>
          <a:p>
            <a:pPr algn="l"/>
            <a:r>
              <a:rPr sz="1100" b="0">
                <a:solidFill>
                  <a:srgbClr val="657681"/>
                </a:solidFill>
                <a:latin typeface="Calibri"/>
              </a:rPr>
              <a:t>groundedness das citações (170 clientes reais)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0175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874B5"/>
                </a:solidFill>
                <a:latin typeface="Calibri"/>
              </a:rPr>
              <a:t>0</a:t>
            </a:r>
          </a:p>
          <a:p>
            <a:pPr algn="l"/>
            <a:r>
              <a:rPr sz="1100" b="0">
                <a:solidFill>
                  <a:srgbClr val="657681"/>
                </a:solidFill>
                <a:latin typeface="Calibri"/>
              </a:rPr>
              <a:t>violações de política/LGPD em 50.000 recomendações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30175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874B5"/>
                </a:solidFill>
                <a:latin typeface="Calibri"/>
              </a:rPr>
              <a:t>44,7%</a:t>
            </a:r>
          </a:p>
          <a:p>
            <a:pPr algn="l"/>
            <a:r>
              <a:rPr sz="1100" b="0">
                <a:solidFill>
                  <a:srgbClr val="657681"/>
                </a:solidFill>
                <a:latin typeface="Calibri"/>
              </a:rPr>
              <a:t>human review no silêncio responsável (fail-safe)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57681"/>
                </a:solidFill>
                <a:latin typeface="Calibri"/>
              </a:rPr>
              <a:t>70,7% da carteira não recebe oferta (não há ação elegível honesta) — silêncio é decisão, não omissão. Modo LLM: plugável, auditável.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3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33774"/>
                </a:solidFill>
                <a:latin typeface="Calibri"/>
              </a:rPr>
              <a:t>4 · Impacto estimado — com a verdade na mesa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A30"/>
                </a:solidFill>
                <a:latin typeface="Calibri"/>
              </a:rPr>
              <a:t>O achado impopular (e valioso):</a:t>
            </a:r>
          </a:p>
          <a:p>
            <a:pPr algn="l"/>
            <a:r>
              <a:rPr sz="1400" b="0">
                <a:solidFill>
                  <a:srgbClr val="1E2A30"/>
                </a:solidFill>
                <a:latin typeface="Calibri"/>
              </a:rPr>
              <a:t>Campanha generalista sobre 14.645 alvos é DEFICITÁRIA em todos os cenários —</a:t>
            </a:r>
          </a:p>
          <a:p>
            <a:pPr algn="l"/>
            <a:r>
              <a:rPr sz="1400" b="0">
                <a:solidFill>
                  <a:srgbClr val="1E2A30"/>
                </a:solidFill>
                <a:latin typeface="Calibri"/>
              </a:rPr>
              <a:t>o custo por ação (R$3–R$60) excede o retorno esperado em clientes de baixo valor em risco.</a:t>
            </a:r>
          </a:p>
          <a:p>
            <a:pPr algn="l"/>
            <a:r>
              <a:rPr sz="1400" b="0">
                <a:solidFill>
                  <a:srgbClr val="1E2A30"/>
                </a:solidFill>
                <a:latin typeface="Calibri"/>
              </a:rPr>
              <a:t>Break-even exige custo ≤ R$ 0,88/ação (base): só canais digitais de custo marginal ~0.</a:t>
            </a:r>
          </a:p>
          <a:p>
            <a:pPr algn="l"/>
            <a:r>
              <a:rPr sz="1600" b="1">
                <a:solidFill>
                  <a:srgbClr val="1E2A30"/>
                </a:solidFill>
                <a:latin typeface="Calibri"/>
              </a:rPr>
              <a:t>Estratégia que o número sustenta:</a:t>
            </a:r>
          </a:p>
          <a:p>
            <a:pPr algn="l"/>
            <a:r>
              <a:rPr sz="1400" b="0">
                <a:solidFill>
                  <a:srgbClr val="1E2A30"/>
                </a:solidFill>
                <a:latin typeface="Calibri"/>
              </a:rPr>
              <a:t>• Priorização por VaR: R$ 80k cobrem 6.140 clientes e 58,9% do risco</a:t>
            </a:r>
          </a:p>
          <a:p>
            <a:pPr algn="l"/>
            <a:r>
              <a:rPr sz="1400" b="0">
                <a:solidFill>
                  <a:srgbClr val="1E2A30"/>
                </a:solidFill>
                <a:latin typeface="Calibri"/>
              </a:rPr>
              <a:t>• Piloto A/B (poder 80%, α 5%): n = 4.624/braço para detectar +2pp de retenção</a:t>
            </a:r>
          </a:p>
          <a:p>
            <a:pPr algn="l"/>
            <a:r>
              <a:rPr sz="1400" b="0">
                <a:solidFill>
                  <a:srgbClr val="1E2A30"/>
                </a:solidFill>
                <a:latin typeface="Calibri"/>
              </a:rPr>
              <a:t>• Na escala real (&gt;140 mil alto-valor): 7+ pilotos simultâneos de +2pp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35040" y="1371600"/>
          <a:ext cx="55778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57681"/>
                </a:solidFill>
                <a:latin typeface="Calibri"/>
              </a:rPr>
              <a:t>Efeito da ação (5–15%) e resposta (12–25%) são PREMISSAS de literatura CRM — não efeito causal. Uplift real exige o piloto.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33774"/>
                </a:solidFill>
                <a:latin typeface="Calibri"/>
              </a:rPr>
              <a:t>5 · IA responsável como código, não como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A30"/>
                </a:solidFill>
                <a:latin typeface="Calibri"/>
              </a:rPr>
              <a:t>• Zero PII: base 100% sintética; para dados reais, RIPD e base legal antes de qualquer contato (LGPD art. 20: explicação + humano no circuito)</a:t>
            </a:r>
          </a:p>
          <a:p>
            <a:pPr algn="l"/>
            <a:r>
              <a:rPr sz="1500" b="0">
                <a:solidFill>
                  <a:srgbClr val="1E2A30"/>
                </a:solidFill>
                <a:latin typeface="Calibri"/>
              </a:rPr>
              <a:t>• Atributos sensíveis PROIBIDOS nas features — teste automatizado quebra o pipeline se vazar</a:t>
            </a:r>
          </a:p>
          <a:p>
            <a:pPr algn="l"/>
            <a:r>
              <a:rPr sz="1500" b="0">
                <a:solidFill>
                  <a:srgbClr val="1E2A30"/>
                </a:solidFill>
                <a:latin typeface="Calibri"/>
              </a:rPr>
              <a:t>• Auditoria Four-Fifths executada e PUBLICADA com 5 grupos fora do limiar (18-24: 0,795; Sul 0,558; Sudeste 0,642; C-Oeste 0,699; Nordeste 0,724) — medir, divulgar e mitigar, nunca maquiar</a:t>
            </a:r>
          </a:p>
          <a:p>
            <a:pPr algn="l"/>
            <a:r>
              <a:rPr sz="1500" b="0">
                <a:solidFill>
                  <a:srgbClr val="1E2A30"/>
                </a:solidFill>
                <a:latin typeface="Calibri"/>
              </a:rPr>
              <a:t>• 'Não informado' é rótulo honesto: ninguém ganha demografia inventada</a:t>
            </a:r>
          </a:p>
          <a:p>
            <a:pPr algn="l"/>
            <a:r>
              <a:rPr sz="1500" b="0">
                <a:solidFill>
                  <a:srgbClr val="1E2A30"/>
                </a:solidFill>
                <a:latin typeface="Calibri"/>
              </a:rPr>
              <a:t>• Guardrails: 69 testes permanentes de bloqueio (benefício fabricado, urgência manipulativa, dado sensível, injeção de prompt em PT/EN, SQL/XSS)</a:t>
            </a:r>
          </a:p>
          <a:p>
            <a:pPr algn="l"/>
            <a:r>
              <a:rPr sz="1500" b="0">
                <a:solidFill>
                  <a:srgbClr val="1E2A30"/>
                </a:solidFill>
                <a:latin typeface="Calibri"/>
              </a:rPr>
              <a:t>• Human-in-the-loop em toda oferta; registro auditável de decisões (decisions.jsonl)</a:t>
            </a:r>
          </a:p>
          <a:p>
            <a:pPr algn="l"/>
            <a:r>
              <a:rPr sz="1500" b="0">
                <a:solidFill>
                  <a:srgbClr val="1E2A30"/>
                </a:solidFill>
                <a:latin typeface="Calibri"/>
              </a:rPr>
              <a:t>• 190 testes automatizados verdes · 12 revisões independentes documentadas com veredito assinado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57681"/>
                </a:solidFill>
                <a:latin typeface="Calibri"/>
              </a:rPr>
              <a:t>Relatórios: docs/responsible_ai.md · docs/ripd.md · auditoria reprodutível via tasks.py fairness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33774"/>
                </a:solidFill>
                <a:latin typeface="Calibri"/>
              </a:rPr>
              <a:t>6 · Plugar nos dados reais: troca de fonte, não reescrita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A30"/>
                </a:solidFill>
                <a:latin typeface="Calibri"/>
              </a:rPr>
              <a:t>• Contratos idênticos: 22 tabelas com schema validado em CI; dicionário gerado dos schemas</a:t>
            </a:r>
          </a:p>
          <a:p>
            <a:pPr algn="l"/>
            <a:r>
              <a:rPr sz="1400" b="0">
                <a:solidFill>
                  <a:srgbClr val="1E2A30"/>
                </a:solidFill>
                <a:latin typeface="Calibri"/>
              </a:rPr>
              <a:t>• Snowflake: DDL + COPY INTO prontos (sql/snowflake) · plano de transição em docs/snowflake_plan.md</a:t>
            </a:r>
          </a:p>
          <a:p>
            <a:pPr algn="l"/>
            <a:r>
              <a:rPr sz="1400" b="0">
                <a:solidFill>
                  <a:srgbClr val="1E2A30"/>
                </a:solidFill>
                <a:latin typeface="Calibri"/>
              </a:rPr>
              <a:t>• Ingestão versionada com manifesto sha256 — nova fonte entra com a mesma governança</a:t>
            </a:r>
          </a:p>
          <a:p>
            <a:pPr algn="l"/>
            <a:r>
              <a:rPr sz="1400" b="0">
                <a:solidFill>
                  <a:srgbClr val="1E2A30"/>
                </a:solidFill>
                <a:latin typeface="Calibri"/>
              </a:rPr>
              <a:t>• Agente offline (R$ 0) é o padrão auditado; LLM pluggável (OpenAI-compatible) custa R$ 66–1.238 por 50 mil recomendações conforme o tier</a:t>
            </a:r>
          </a:p>
          <a:p>
            <a:pPr algn="l"/>
            <a:r>
              <a:rPr sz="1400" b="0">
                <a:solidFill>
                  <a:srgbClr val="1E2A30"/>
                </a:solidFill>
                <a:latin typeface="Calibri"/>
              </a:rPr>
              <a:t>• Piloto A/B calibra as premissas (efeito, resposta, margem) antes de qualquer escala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874B5"/>
                </a:solidFill>
                <a:latin typeface="Calibri"/>
              </a:rPr>
              <a:t>22</a:t>
            </a:r>
          </a:p>
          <a:p>
            <a:pPr algn="l"/>
            <a:r>
              <a:rPr sz="1100" b="0">
                <a:solidFill>
                  <a:srgbClr val="657681"/>
                </a:solidFill>
                <a:latin typeface="Calibri"/>
              </a:rPr>
              <a:t>tabelas com contrato validado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4630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874B5"/>
                </a:solidFill>
                <a:latin typeface="Calibri"/>
              </a:rPr>
              <a:t>190</a:t>
            </a:r>
          </a:p>
          <a:p>
            <a:pPr algn="l"/>
            <a:r>
              <a:rPr sz="1100" b="0">
                <a:solidFill>
                  <a:srgbClr val="657681"/>
                </a:solidFill>
                <a:latin typeface="Calibri"/>
              </a:rPr>
              <a:t>testes automatizados verdes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0175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D8ED00"/>
                </a:solidFill>
                <a:latin typeface="Calibri"/>
              </a:rPr>
              <a:t>R$ 0</a:t>
            </a:r>
          </a:p>
          <a:p>
            <a:pPr algn="l"/>
            <a:r>
              <a:rPr sz="1100" b="0">
                <a:solidFill>
                  <a:srgbClr val="657681"/>
                </a:solidFill>
                <a:latin typeface="Calibri"/>
              </a:rPr>
              <a:t>custo do agente offline por recomendação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30175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874B5"/>
                </a:solidFill>
                <a:latin typeface="Calibri"/>
              </a:rPr>
              <a:t>9</a:t>
            </a:r>
          </a:p>
          <a:p>
            <a:pPr algn="l"/>
            <a:r>
              <a:rPr sz="1100" b="0">
                <a:solidFill>
                  <a:srgbClr val="657681"/>
                </a:solidFill>
                <a:latin typeface="Calibri"/>
              </a:rPr>
              <a:t>workstreams entregues com revisão independente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57681"/>
                </a:solidFill>
                <a:latin typeface="Calibri"/>
              </a:rPr>
              <a:t>Cenário de custo LLM: estimativa prospectiva rotulada como premissa (600–900 tokens/rec, câmbio 5,50).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77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E83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Da milha ao momento de cuidado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AE0E8"/>
                </a:solidFill>
                <a:latin typeface="Calibri"/>
              </a:rPr>
              <a:t>1. Validar em piloto A/B com grupo de controle (humano no circuito, opt-out, monitoramento de viés)</a:t>
            </a:r>
          </a:p>
          <a:p>
            <a:pPr algn="l"/>
            <a:r>
              <a:rPr sz="1800" b="0">
                <a:solidFill>
                  <a:srgbClr val="9AE0E8"/>
                </a:solidFill>
                <a:latin typeface="Calibri"/>
              </a:rPr>
              <a:t>2. Calibrar efeito/resposta/margem com uplift real — substituir premissas por medidas</a:t>
            </a:r>
          </a:p>
          <a:p>
            <a:pPr algn="l"/>
            <a:r>
              <a:rPr sz="1800" b="0">
                <a:solidFill>
                  <a:srgbClr val="9AE0E8"/>
                </a:solidFill>
                <a:latin typeface="Calibri"/>
              </a:rPr>
              <a:t>3. Conectar os dados reais no Snowflake e re-auditar (fairness a cada re-treino)</a:t>
            </a:r>
          </a:p>
          <a:p>
            <a:pPr algn="l"/>
            <a:r>
              <a:rPr sz="1600" b="0">
                <a:solidFill>
                  <a:srgbClr val="D8ED00"/>
                </a:solidFill>
                <a:latin typeface="Calibri"/>
              </a:rPr>
              <a:t>Demo ao vivo: python tasks.py app · Painel em http://localhost:8501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57681"/>
                </a:solidFill>
                <a:latin typeface="Calibri"/>
              </a:rPr>
              <a:t>Projeto Aura 2.0 · Entrega com evidências executadas — 12 revisões independentes, 190 testes, zero número inventado.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